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5"/>
    <p:sldId id="279" r:id="rId6"/>
    <p:sldId id="259" r:id="rId7"/>
    <p:sldId id="260" r:id="rId8"/>
    <p:sldId id="261" r:id="rId9"/>
    <p:sldId id="262" r:id="rId10"/>
    <p:sldId id="263" r:id="rId11"/>
    <p:sldId id="270" r:id="rId12"/>
    <p:sldId id="271" r:id="rId13"/>
    <p:sldId id="280" r:id="rId14"/>
    <p:sldId id="281" r:id="rId15"/>
    <p:sldId id="282" r:id="rId16"/>
    <p:sldId id="274" r:id="rId17"/>
    <p:sldId id="275" r:id="rId18"/>
    <p:sldId id="276" r:id="rId19"/>
    <p:sldId id="277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23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3362" y="4681537"/>
            <a:ext cx="8692515" cy="5715"/>
          </a:xfrm>
          <a:custGeom>
            <a:avLst/>
            <a:gdLst/>
            <a:ahLst/>
            <a:cxnLst/>
            <a:rect l="l" t="t" r="r" b="b"/>
            <a:pathLst>
              <a:path w="8692515" h="5714">
                <a:moveTo>
                  <a:pt x="0" y="5702"/>
                </a:moveTo>
                <a:lnTo>
                  <a:pt x="8692451" y="0"/>
                </a:lnTo>
              </a:path>
            </a:pathLst>
          </a:custGeom>
          <a:ln w="9525">
            <a:solidFill>
              <a:srgbClr val="E9EB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577" y="1156271"/>
            <a:ext cx="6510020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2381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238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381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238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381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381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9E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3362" y="4681537"/>
            <a:ext cx="8692515" cy="5715"/>
          </a:xfrm>
          <a:custGeom>
            <a:avLst/>
            <a:gdLst/>
            <a:ahLst/>
            <a:cxnLst/>
            <a:rect l="l" t="t" r="r" b="b"/>
            <a:pathLst>
              <a:path w="8692515" h="5714">
                <a:moveTo>
                  <a:pt x="0" y="5702"/>
                </a:moveTo>
                <a:lnTo>
                  <a:pt x="8692451" y="0"/>
                </a:lnTo>
              </a:path>
            </a:pathLst>
          </a:custGeom>
          <a:ln w="9525">
            <a:solidFill>
              <a:srgbClr val="123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622" y="224218"/>
            <a:ext cx="858075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2381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657" y="1179258"/>
            <a:ext cx="5490845" cy="259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238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950" spc="-35" dirty="0">
                <a:solidFill>
                  <a:srgbClr val="E9EBE8"/>
                </a:solidFill>
              </a:rPr>
              <a:t>Financial</a:t>
            </a:r>
            <a:r>
              <a:rPr sz="3950" spc="120" dirty="0">
                <a:solidFill>
                  <a:srgbClr val="E9EBE8"/>
                </a:solidFill>
              </a:rPr>
              <a:t> </a:t>
            </a:r>
            <a:r>
              <a:rPr lang="en-US" sz="3950" dirty="0">
                <a:solidFill>
                  <a:srgbClr val="E9EBE8"/>
                </a:solidFill>
              </a:rPr>
              <a:t>Loan</a:t>
            </a:r>
            <a:r>
              <a:rPr sz="3950" spc="180" dirty="0">
                <a:solidFill>
                  <a:srgbClr val="E9EBE8"/>
                </a:solidFill>
              </a:rPr>
              <a:t> </a:t>
            </a:r>
            <a:r>
              <a:rPr sz="3950" spc="-10" dirty="0">
                <a:solidFill>
                  <a:srgbClr val="E9EBE8"/>
                </a:solidFill>
                <a:latin typeface="Times New Roman"/>
                <a:cs typeface="Times New Roman"/>
              </a:rPr>
              <a:t>Project</a:t>
            </a:r>
            <a:endParaRPr sz="39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77" y="1973579"/>
            <a:ext cx="44481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E9EBE8"/>
                </a:solidFill>
                <a:latin typeface="Cambria"/>
                <a:cs typeface="Cambria"/>
              </a:rPr>
              <a:t>Tools</a:t>
            </a:r>
            <a:r>
              <a:rPr sz="2000" b="1" spc="85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E9EBE8"/>
                </a:solidFill>
                <a:latin typeface="Cambria"/>
                <a:cs typeface="Cambria"/>
              </a:rPr>
              <a:t>Used:</a:t>
            </a:r>
            <a:r>
              <a:rPr sz="2000" b="1" spc="80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lang="en-US" sz="2000" b="1" dirty="0">
                <a:solidFill>
                  <a:srgbClr val="E9EBE8"/>
                </a:solidFill>
                <a:latin typeface="Cambria"/>
                <a:cs typeface="Cambria"/>
              </a:rPr>
              <a:t>MySQL</a:t>
            </a:r>
            <a:r>
              <a:rPr sz="2000" b="1" spc="25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sz="2000" b="1" spc="170" dirty="0">
                <a:solidFill>
                  <a:srgbClr val="E9EBE8"/>
                </a:solidFill>
                <a:latin typeface="Cambria"/>
                <a:cs typeface="Cambria"/>
              </a:rPr>
              <a:t>|</a:t>
            </a:r>
            <a:r>
              <a:rPr sz="2000" b="1" spc="75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lang="en-IN" sz="2000" b="1" spc="-25" dirty="0">
                <a:solidFill>
                  <a:srgbClr val="E9EBE8"/>
                </a:solidFill>
                <a:latin typeface="Cambria"/>
                <a:cs typeface="Cambria"/>
              </a:rPr>
              <a:t>Excel</a:t>
            </a:r>
            <a:r>
              <a:rPr lang="en-IN" sz="2000" b="1" spc="75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sz="2000" b="1" spc="170" dirty="0">
                <a:solidFill>
                  <a:srgbClr val="E9EBE8"/>
                </a:solidFill>
                <a:latin typeface="Cambria"/>
                <a:cs typeface="Cambria"/>
              </a:rPr>
              <a:t>|</a:t>
            </a:r>
            <a:r>
              <a:rPr sz="2000" b="1" spc="70" dirty="0">
                <a:solidFill>
                  <a:srgbClr val="E9EBE8"/>
                </a:solidFill>
                <a:latin typeface="Cambria"/>
                <a:cs typeface="Cambria"/>
              </a:rPr>
              <a:t> </a:t>
            </a:r>
            <a:r>
              <a:rPr lang="en-US" sz="2000" b="1" spc="45" dirty="0">
                <a:solidFill>
                  <a:srgbClr val="E9EBE8"/>
                </a:solidFill>
                <a:latin typeface="Cambria"/>
                <a:cs typeface="Cambria"/>
              </a:rPr>
              <a:t>Python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609" y="224218"/>
            <a:ext cx="139319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609" y="1095565"/>
            <a:ext cx="2702560" cy="258318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182245" algn="l"/>
              </a:tabLst>
            </a:pPr>
            <a:r>
              <a:rPr sz="1550" spc="70" dirty="0">
                <a:solidFill>
                  <a:srgbClr val="123817"/>
                </a:solidFill>
                <a:latin typeface="Times New Roman"/>
                <a:cs typeface="Times New Roman"/>
              </a:rPr>
              <a:t>Introduction</a:t>
            </a:r>
            <a:r>
              <a:rPr sz="1550" spc="15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550" spc="130" dirty="0">
                <a:solidFill>
                  <a:srgbClr val="123817"/>
                </a:solidFill>
                <a:latin typeface="Times New Roman"/>
                <a:cs typeface="Times New Roman"/>
              </a:rPr>
              <a:t>&amp;</a:t>
            </a:r>
            <a:r>
              <a:rPr sz="1550" spc="14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550" spc="45" dirty="0">
                <a:solidFill>
                  <a:srgbClr val="123817"/>
                </a:solidFill>
                <a:latin typeface="Times New Roman"/>
                <a:cs typeface="Times New Roman"/>
              </a:rPr>
              <a:t>Objectives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82245" algn="l"/>
              </a:tabLst>
            </a:pPr>
            <a:r>
              <a:rPr lang="en-IN" sz="1550" dirty="0">
                <a:solidFill>
                  <a:srgbClr val="123817"/>
                </a:solidFill>
                <a:latin typeface="Times New Roman"/>
                <a:cs typeface="Times New Roman"/>
              </a:rPr>
              <a:t>MySQL</a:t>
            </a:r>
            <a:r>
              <a:rPr lang="en-IN" sz="1550" spc="70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lang="en-IN" sz="1550" spc="55" dirty="0">
                <a:solidFill>
                  <a:srgbClr val="123817"/>
                </a:solidFill>
                <a:latin typeface="Times New Roman"/>
                <a:cs typeface="Times New Roman"/>
              </a:rPr>
              <a:t>Queries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182245" algn="l"/>
              </a:tabLst>
            </a:pPr>
            <a:r>
              <a:rPr sz="1550" spc="65" dirty="0">
                <a:solidFill>
                  <a:srgbClr val="123817"/>
                </a:solidFill>
                <a:latin typeface="Times New Roman"/>
                <a:cs typeface="Times New Roman"/>
              </a:rPr>
              <a:t>Dashboards:</a:t>
            </a:r>
            <a:r>
              <a:rPr sz="1550" spc="16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23817"/>
                </a:solidFill>
                <a:latin typeface="Times New Roman"/>
                <a:cs typeface="Times New Roman"/>
              </a:rPr>
              <a:t>Excel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82245" algn="l"/>
              </a:tabLst>
            </a:pPr>
            <a:r>
              <a:rPr lang="en-IN" sz="1550" dirty="0">
                <a:solidFill>
                  <a:srgbClr val="123817"/>
                </a:solidFill>
                <a:latin typeface="Times New Roman"/>
                <a:cs typeface="Times New Roman"/>
              </a:rPr>
              <a:t>Python Visualization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82245" algn="l"/>
              </a:tabLst>
            </a:pPr>
            <a:r>
              <a:rPr sz="1550" spc="50" dirty="0">
                <a:solidFill>
                  <a:srgbClr val="123817"/>
                </a:solidFill>
                <a:latin typeface="Times New Roman"/>
                <a:cs typeface="Times New Roman"/>
              </a:rPr>
              <a:t>Conclusion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182245" algn="l"/>
              </a:tabLst>
            </a:pPr>
            <a:r>
              <a:rPr sz="1550" spc="50" dirty="0">
                <a:solidFill>
                  <a:srgbClr val="123817"/>
                </a:solidFill>
                <a:latin typeface="Times New Roman"/>
                <a:cs typeface="Times New Roman"/>
              </a:rPr>
              <a:t>Inferences</a:t>
            </a:r>
            <a:endParaRPr sz="155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82245" algn="l"/>
              </a:tabLst>
            </a:pPr>
            <a:r>
              <a:rPr sz="1550" spc="55" dirty="0">
                <a:solidFill>
                  <a:srgbClr val="123817"/>
                </a:solidFill>
                <a:latin typeface="Times New Roman"/>
                <a:cs typeface="Times New Roman"/>
              </a:rPr>
              <a:t>Challenges</a:t>
            </a:r>
            <a:r>
              <a:rPr sz="1550" spc="120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550" spc="130" dirty="0">
                <a:solidFill>
                  <a:srgbClr val="123817"/>
                </a:solidFill>
                <a:latin typeface="Times New Roman"/>
                <a:cs typeface="Times New Roman"/>
              </a:rPr>
              <a:t>&amp;</a:t>
            </a:r>
            <a:r>
              <a:rPr sz="1550" spc="14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550" spc="45" dirty="0">
                <a:solidFill>
                  <a:srgbClr val="123817"/>
                </a:solidFill>
                <a:latin typeface="Times New Roman"/>
                <a:cs typeface="Times New Roman"/>
              </a:rPr>
              <a:t>Solutions</a:t>
            </a: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pc="-55" dirty="0"/>
              <a:t>Introduction</a:t>
            </a:r>
            <a:r>
              <a:rPr spc="130" dirty="0"/>
              <a:t> </a:t>
            </a:r>
            <a:r>
              <a:rPr spc="445" dirty="0"/>
              <a:t>&amp;</a:t>
            </a:r>
            <a:r>
              <a:rPr spc="10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245044"/>
            <a:ext cx="8486140" cy="2843086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400" b="1" spc="-10" dirty="0">
                <a:solidFill>
                  <a:srgbClr val="123817"/>
                </a:solidFill>
                <a:latin typeface="Cambria"/>
                <a:cs typeface="Cambria"/>
              </a:rPr>
              <a:t>Introduction:</a:t>
            </a:r>
            <a:endParaRPr sz="1400" dirty="0">
              <a:latin typeface="Cambria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8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spc="45" dirty="0">
                <a:solidFill>
                  <a:srgbClr val="123817"/>
                </a:solidFill>
                <a:latin typeface="Times New Roman"/>
                <a:cs typeface="Times New Roman"/>
              </a:rPr>
              <a:t>The Bank Loan Report is a strategic initiative designed to monitor, evaluate, and visualize the performance of lending operations across key dimensions</a:t>
            </a:r>
            <a:r>
              <a:rPr sz="1400" spc="45" dirty="0">
                <a:solidFill>
                  <a:srgbClr val="12381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7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spc="45" dirty="0">
                <a:solidFill>
                  <a:srgbClr val="123817"/>
                </a:solidFill>
                <a:latin typeface="Times New Roman"/>
                <a:cs typeface="Times New Roman"/>
              </a:rPr>
              <a:t>By combining detailed KPIs with interactive dashboards, it empowers stakeholders to make informed decisions, optimize lending strategies, and access portfolio banking with precision</a:t>
            </a:r>
            <a:r>
              <a:rPr sz="1400" spc="-10" dirty="0">
                <a:solidFill>
                  <a:srgbClr val="12381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123817"/>
              </a:buClr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123817"/>
                </a:solidFill>
                <a:latin typeface="Cambria"/>
                <a:cs typeface="Cambria"/>
              </a:rPr>
              <a:t>Objectives:</a:t>
            </a:r>
            <a:endParaRPr sz="1400" dirty="0">
              <a:latin typeface="Cambria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80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123817"/>
                </a:solidFill>
                <a:latin typeface="Times New Roman"/>
                <a:cs typeface="Times New Roman"/>
              </a:rPr>
              <a:t>Build</a:t>
            </a:r>
            <a:r>
              <a:rPr sz="1400" spc="60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123817"/>
                </a:solidFill>
                <a:latin typeface="Times New Roman"/>
                <a:cs typeface="Times New Roman"/>
              </a:rPr>
              <a:t>dashboards</a:t>
            </a:r>
            <a:r>
              <a:rPr sz="1400" spc="12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23817"/>
                </a:solidFill>
                <a:latin typeface="Times New Roman"/>
                <a:cs typeface="Times New Roman"/>
              </a:rPr>
              <a:t>in</a:t>
            </a:r>
            <a:r>
              <a:rPr sz="1400" spc="9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23817"/>
                </a:solidFill>
                <a:latin typeface="Times New Roman"/>
                <a:cs typeface="Times New Roman"/>
              </a:rPr>
              <a:t>Excel</a:t>
            </a:r>
            <a:r>
              <a:rPr sz="1400" spc="90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123817"/>
                </a:solidFill>
                <a:latin typeface="Times New Roman"/>
                <a:cs typeface="Times New Roman"/>
              </a:rPr>
              <a:t>and</a:t>
            </a:r>
            <a:r>
              <a:rPr sz="1400" spc="85" dirty="0">
                <a:solidFill>
                  <a:srgbClr val="123817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123817"/>
                </a:solidFill>
                <a:latin typeface="Times New Roman"/>
                <a:cs typeface="Times New Roman"/>
              </a:rPr>
              <a:t>Monitor key loan metrics with MTD and MoM comparisons</a:t>
            </a:r>
            <a:r>
              <a:rPr sz="1400" spc="45" dirty="0">
                <a:solidFill>
                  <a:srgbClr val="12381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8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dirty="0">
                <a:solidFill>
                  <a:srgbClr val="123817"/>
                </a:solidFill>
                <a:latin typeface="Times New Roman"/>
                <a:cs typeface="Times New Roman"/>
              </a:rPr>
              <a:t>Classify and evaluate Good vs Bad loan performance</a:t>
            </a:r>
            <a:r>
              <a:rPr sz="1400" spc="35" dirty="0">
                <a:solidFill>
                  <a:srgbClr val="12381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80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dirty="0">
                <a:solidFill>
                  <a:srgbClr val="123817"/>
                </a:solidFill>
                <a:latin typeface="Times New Roman"/>
                <a:cs typeface="Times New Roman"/>
              </a:rPr>
              <a:t>Visualize trends by time, region, and borrower attributes</a:t>
            </a:r>
            <a:r>
              <a:rPr sz="1400" spc="50" dirty="0">
                <a:solidFill>
                  <a:srgbClr val="12381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pc="114" dirty="0"/>
              <a:t>MySQL</a:t>
            </a:r>
            <a:r>
              <a:rPr spc="245" dirty="0"/>
              <a:t> </a:t>
            </a:r>
            <a:r>
              <a:rPr spc="-30" dirty="0"/>
              <a:t>Queries</a:t>
            </a:r>
          </a:p>
        </p:txBody>
      </p:sp>
      <p:pic>
        <p:nvPicPr>
          <p:cNvPr id="6" name="Picture 5" descr="A screenshot of a computer program">
            <a:extLst>
              <a:ext uri="{FF2B5EF4-FFF2-40B4-BE49-F238E27FC236}">
                <a16:creationId xmlns:a16="http://schemas.microsoft.com/office/drawing/2014/main" id="{127B285B-7DDA-7535-FE91-911906520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81" y="893837"/>
            <a:ext cx="3909399" cy="3555849"/>
          </a:xfrm>
          <a:prstGeom prst="rect">
            <a:avLst/>
          </a:prstGeom>
        </p:spPr>
      </p:pic>
      <p:pic>
        <p:nvPicPr>
          <p:cNvPr id="8" name="Picture 7" descr="A screenshot of a computer code">
            <a:extLst>
              <a:ext uri="{FF2B5EF4-FFF2-40B4-BE49-F238E27FC236}">
                <a16:creationId xmlns:a16="http://schemas.microsoft.com/office/drawing/2014/main" id="{AC3FF5A8-0C34-6441-2D4F-2AFF7A9F3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893836"/>
            <a:ext cx="3810000" cy="35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4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6411-7587-8CA8-8BC6-1800C367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E79C15-15BC-F484-B8AE-17C193CF3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pc="114" dirty="0"/>
              <a:t>MySQL</a:t>
            </a:r>
            <a:r>
              <a:rPr spc="245" dirty="0"/>
              <a:t> </a:t>
            </a:r>
            <a:r>
              <a:rPr spc="-30" dirty="0"/>
              <a:t>Queries</a:t>
            </a:r>
          </a:p>
        </p:txBody>
      </p:sp>
      <p:pic>
        <p:nvPicPr>
          <p:cNvPr id="4" name="Picture 3" descr="A screenshot of a computer program">
            <a:extLst>
              <a:ext uri="{FF2B5EF4-FFF2-40B4-BE49-F238E27FC236}">
                <a16:creationId xmlns:a16="http://schemas.microsoft.com/office/drawing/2014/main" id="{2539F1FD-9235-1B0B-0D4B-69E7031CF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93836"/>
            <a:ext cx="3596952" cy="3555849"/>
          </a:xfrm>
          <a:prstGeom prst="rect">
            <a:avLst/>
          </a:prstGeom>
        </p:spPr>
      </p:pic>
      <p:pic>
        <p:nvPicPr>
          <p:cNvPr id="7" name="Picture 6" descr="A screenshot of a computer code">
            <a:extLst>
              <a:ext uri="{FF2B5EF4-FFF2-40B4-BE49-F238E27FC236}">
                <a16:creationId xmlns:a16="http://schemas.microsoft.com/office/drawing/2014/main" id="{D7E89331-DE9A-3E58-8FB5-015A4EA5C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65" y="893835"/>
            <a:ext cx="3767935" cy="35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0"/>
              </a:spcBef>
            </a:pPr>
            <a:r>
              <a:rPr dirty="0"/>
              <a:t>KPI</a:t>
            </a:r>
            <a:r>
              <a:rPr spc="120" dirty="0"/>
              <a:t> </a:t>
            </a:r>
            <a:r>
              <a:rPr spc="-285" dirty="0"/>
              <a:t>1</a:t>
            </a:r>
            <a:r>
              <a:rPr spc="140" dirty="0"/>
              <a:t> </a:t>
            </a:r>
            <a:r>
              <a:rPr spc="204" dirty="0"/>
              <a:t>–</a:t>
            </a:r>
            <a:r>
              <a:rPr spc="120" dirty="0"/>
              <a:t> </a:t>
            </a:r>
            <a:r>
              <a:rPr dirty="0"/>
              <a:t>Total</a:t>
            </a:r>
            <a:r>
              <a:rPr spc="120" dirty="0"/>
              <a:t> </a:t>
            </a:r>
            <a:r>
              <a:rPr lang="en-US" spc="-50" dirty="0"/>
              <a:t>Loan Applications</a:t>
            </a:r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7657" y="1179258"/>
            <a:ext cx="5490845" cy="2677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12700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/>
              <a:t>Volume of Business:</a:t>
            </a:r>
            <a:r>
              <a:rPr lang="en-US" dirty="0"/>
              <a:t> The bank has received a substantial </a:t>
            </a:r>
            <a:r>
              <a:rPr lang="en-US" b="1" dirty="0">
                <a:solidFill>
                  <a:schemeClr val="tx2"/>
                </a:solidFill>
              </a:rPr>
              <a:t>38,600 loan applications</a:t>
            </a:r>
            <a:r>
              <a:rPr lang="en-US" dirty="0"/>
              <a:t>, indicating strong market demand for its credit products.</a:t>
            </a:r>
            <a:endParaRPr spc="-10" dirty="0"/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/>
              <a:t>Operational Scale:</a:t>
            </a:r>
            <a:r>
              <a:rPr lang="en-US" dirty="0"/>
              <a:t> This high volume reflects the significant workload handled by the application intake and initial underwriting teams.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/>
              <a:t>Funnel Foundation:</a:t>
            </a:r>
            <a:r>
              <a:rPr lang="en-US" dirty="0"/>
              <a:t> These 38.6K applications represent the total pool from which all funded loans and subsequent revenue are generated.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/>
              <a:t>Growth Tracking:</a:t>
            </a:r>
            <a:r>
              <a:rPr lang="en-US" dirty="0"/>
              <a:t> This figure serves as a key baseline metric to track the bank's growth in customer acquisition over time.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57CD7-F7FA-D4B5-E980-D6CD21C24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809750"/>
            <a:ext cx="1676400" cy="10717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285750"/>
            <a:ext cx="5635943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KPI</a:t>
            </a:r>
            <a:r>
              <a:rPr spc="95" dirty="0"/>
              <a:t> </a:t>
            </a:r>
            <a:r>
              <a:rPr dirty="0"/>
              <a:t>2</a:t>
            </a:r>
            <a:r>
              <a:rPr spc="110" dirty="0"/>
              <a:t> </a:t>
            </a:r>
            <a:r>
              <a:rPr spc="204" dirty="0"/>
              <a:t>–</a:t>
            </a:r>
            <a:r>
              <a:rPr spc="95" dirty="0"/>
              <a:t> </a:t>
            </a:r>
            <a:r>
              <a:rPr dirty="0"/>
              <a:t>Total</a:t>
            </a:r>
            <a:r>
              <a:rPr spc="100" dirty="0"/>
              <a:t> </a:t>
            </a:r>
            <a:r>
              <a:rPr lang="en-US" spc="-10" dirty="0"/>
              <a:t>Funded Amount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657" y="971550"/>
            <a:ext cx="5487670" cy="3299878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84150" marR="8890" indent="-172085">
              <a:lnSpc>
                <a:spcPct val="147600"/>
              </a:lnSpc>
              <a:spcBef>
                <a:spcPts val="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Deployment: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bank has deployed a significant </a:t>
            </a: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$435.8 million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capital, building a substantial loan asset portfolio.</a:t>
            </a:r>
          </a:p>
          <a:p>
            <a:pPr marL="184150" marR="8890" indent="-172085">
              <a:lnSpc>
                <a:spcPct val="147600"/>
              </a:lnSpc>
              <a:spcBef>
                <a:spcPts val="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Risk Exposure: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entire amount represents the total outstanding principal and the bank's main exposure to borrower credit risk.</a:t>
            </a:r>
          </a:p>
          <a:p>
            <a:pPr marL="184150" marR="8890" indent="-172085">
              <a:lnSpc>
                <a:spcPct val="147600"/>
              </a:lnSpc>
              <a:spcBef>
                <a:spcPts val="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 Base: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$435.8 million is the principal base upon which all interest income, the bank's primary earnings from lending, is calculated.</a:t>
            </a:r>
          </a:p>
          <a:p>
            <a:pPr marL="184150" marR="8890" indent="-172085">
              <a:lnSpc>
                <a:spcPct val="147600"/>
              </a:lnSpc>
              <a:spcBef>
                <a:spcPts val="7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Size Indicator: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figure is a direct measure of the scale and size of the bank's lending business.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957E0B-FBE9-1C3C-2275-C964C9A3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003166"/>
            <a:ext cx="1905000" cy="1137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361950"/>
            <a:ext cx="5940743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KPI</a:t>
            </a:r>
            <a:r>
              <a:rPr spc="95" dirty="0"/>
              <a:t> </a:t>
            </a:r>
            <a:r>
              <a:rPr dirty="0"/>
              <a:t>3</a:t>
            </a:r>
            <a:r>
              <a:rPr spc="110" dirty="0"/>
              <a:t> </a:t>
            </a:r>
            <a:r>
              <a:rPr spc="204" dirty="0"/>
              <a:t>–</a:t>
            </a:r>
            <a:r>
              <a:rPr spc="95" dirty="0"/>
              <a:t> </a:t>
            </a:r>
            <a:r>
              <a:rPr dirty="0"/>
              <a:t>Total</a:t>
            </a:r>
            <a:r>
              <a:rPr spc="100" dirty="0"/>
              <a:t> </a:t>
            </a:r>
            <a:r>
              <a:rPr lang="en-US" spc="-10" dirty="0"/>
              <a:t>Amount </a:t>
            </a:r>
            <a:r>
              <a:rPr lang="en-US" spc="-10" dirty="0" err="1"/>
              <a:t>Recevied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657" y="1179258"/>
            <a:ext cx="5492115" cy="3222677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Indicator: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bank has successfully collected </a:t>
            </a: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$473.1 million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crucial for its liquidity and ability to fund new loans and operations.</a:t>
            </a:r>
          </a:p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Performance: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fact that the amount received is higher than the total funded amount indicates that the overall portfolio is generating positive cash flow.</a:t>
            </a:r>
          </a:p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Efficiency: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high value demonstrates the effectiveness of the bank's collections department and the general creditworthiness of its borrowers.</a:t>
            </a:r>
          </a:p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Source: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significant portion of this inflow is interest income, directly contributing to the bank's net profit.</a:t>
            </a:r>
          </a:p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EA6A2-4C63-94C2-40FB-366E35CB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48134"/>
            <a:ext cx="2057400" cy="1247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0"/>
              </a:spcBef>
            </a:pPr>
            <a:r>
              <a:rPr dirty="0"/>
              <a:t>KPI</a:t>
            </a:r>
            <a:r>
              <a:rPr spc="175" dirty="0"/>
              <a:t> </a:t>
            </a:r>
            <a:r>
              <a:rPr dirty="0"/>
              <a:t>4</a:t>
            </a:r>
            <a:r>
              <a:rPr spc="185" dirty="0"/>
              <a:t> </a:t>
            </a:r>
            <a:r>
              <a:rPr spc="204" dirty="0"/>
              <a:t>–</a:t>
            </a:r>
            <a:r>
              <a:rPr spc="170" dirty="0"/>
              <a:t> </a:t>
            </a:r>
            <a:r>
              <a:rPr spc="-10" dirty="0"/>
              <a:t>Average</a:t>
            </a:r>
            <a:r>
              <a:rPr spc="210" dirty="0"/>
              <a:t> </a:t>
            </a:r>
            <a:r>
              <a:rPr lang="en-US" dirty="0"/>
              <a:t>Interest Rate</a:t>
            </a:r>
            <a:endParaRPr spc="-4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1000" y="895350"/>
            <a:ext cx="5490845" cy="361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Strategy Outcome: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12.05%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reflects the bank's successful balance between offering competitive rates and maintaining profitability.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Yield: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rate directly determines the yield or return the bank earns on its $435.8 million funded amount.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Risk-Price Alignment: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rate is set based on the overall risk profile of the borrower pool, ensuring the bank is compensated for the credit risk it undertakes.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Competitiveness: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average must be monitored against competitors and market benchmarks to ensure the bank's products remain attractive.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24E471-579A-E343-64B9-D8C920098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846896"/>
            <a:ext cx="182880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0"/>
              </a:spcBef>
            </a:pPr>
            <a:r>
              <a:rPr dirty="0"/>
              <a:t>KPI</a:t>
            </a:r>
            <a:r>
              <a:rPr spc="114" dirty="0"/>
              <a:t> </a:t>
            </a:r>
            <a:r>
              <a:rPr dirty="0"/>
              <a:t>5</a:t>
            </a:r>
            <a:r>
              <a:rPr spc="120" dirty="0"/>
              <a:t> </a:t>
            </a:r>
            <a:r>
              <a:rPr spc="204" dirty="0"/>
              <a:t>–</a:t>
            </a:r>
            <a:r>
              <a:rPr spc="114" dirty="0"/>
              <a:t> </a:t>
            </a:r>
            <a:r>
              <a:rPr lang="en-US" dirty="0"/>
              <a:t>Average DTI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642" y="895350"/>
            <a:ext cx="5490210" cy="46130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Borrower Health: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average DTI across the portfolio is </a:t>
            </a: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13.33%,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considered very low and indicates that borrowers, on average, have a comfortable amount of income relative to their debt obligations.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 Profile: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DTI of 13.33% is significantly below common warning thresholds (e.g., 36-43%), signaling a low-risk loan portfolio with a strong capacity for borrowers to repay their debts.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Trend: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 </a:t>
            </a: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Month-over-Month (MoM) change is +2.7%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a slight increase. This needs monitoring, but the ratio remains exceptionally low, so the risk level is still very favorable.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Underwriting Benchmark: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figure validates the bank's lending standards, showing that it has successfully selected borrowers who are not over-leveraged, contributing to the high "Good Loan" percentage in the overall portfolio.</a:t>
            </a: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6985">
              <a:lnSpc>
                <a:spcPct val="152100"/>
              </a:lnSpc>
              <a:spcBef>
                <a:spcPts val="95"/>
              </a:spcBef>
              <a:buSzPct val="64285"/>
              <a:tabLst>
                <a:tab pos="184150" algn="l"/>
              </a:tabLst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marR="6985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B7825-E1E5-EB3D-F93F-372C07D1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02518"/>
            <a:ext cx="1907169" cy="11384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7150"/>
            <a:ext cx="5482591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-60" dirty="0"/>
              <a:t>Summary </a:t>
            </a:r>
            <a:r>
              <a:rPr spc="-60" dirty="0"/>
              <a:t>Dashboard</a:t>
            </a:r>
            <a:r>
              <a:rPr spc="150" dirty="0"/>
              <a:t> </a:t>
            </a:r>
            <a:r>
              <a:rPr spc="204" dirty="0"/>
              <a:t>–</a:t>
            </a:r>
            <a:r>
              <a:rPr spc="120" dirty="0"/>
              <a:t> </a:t>
            </a:r>
            <a:r>
              <a:rPr spc="-25" dirty="0"/>
              <a:t>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CCE92-B078-DC8A-F106-EC1D166B0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4" y="704850"/>
            <a:ext cx="8454392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22" y="133350"/>
            <a:ext cx="85807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lang="en-US" spc="-60" dirty="0"/>
              <a:t>Overview </a:t>
            </a:r>
            <a:r>
              <a:rPr spc="-60" dirty="0"/>
              <a:t>Dashboard</a:t>
            </a:r>
            <a:r>
              <a:rPr spc="90" dirty="0"/>
              <a:t> </a:t>
            </a:r>
            <a:r>
              <a:rPr spc="204" dirty="0"/>
              <a:t>–</a:t>
            </a:r>
            <a:r>
              <a:rPr spc="70" dirty="0"/>
              <a:t> </a:t>
            </a:r>
            <a:r>
              <a:rPr lang="en-US" spc="-55" dirty="0"/>
              <a:t>Excel</a:t>
            </a:r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C8632-0EB5-77D3-EE6E-DC1E4FB84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42377"/>
            <a:ext cx="8305800" cy="38105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B761-2374-9FB8-1A0F-F224BBBC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1B2B81-926B-5D4F-05E8-8F82BD348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622" y="133350"/>
            <a:ext cx="85807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lang="en-US" spc="-60" dirty="0"/>
              <a:t>Univariate Analysis</a:t>
            </a:r>
            <a:r>
              <a:rPr spc="90" dirty="0"/>
              <a:t> </a:t>
            </a:r>
            <a:r>
              <a:rPr spc="204" dirty="0"/>
              <a:t>–</a:t>
            </a:r>
            <a:r>
              <a:rPr spc="70" dirty="0"/>
              <a:t> </a:t>
            </a:r>
            <a:r>
              <a:rPr lang="en-US" spc="-55" dirty="0"/>
              <a:t>Python</a:t>
            </a:r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6EB53-146B-9959-FD82-D4806D4A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07" y="742950"/>
            <a:ext cx="817269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0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F37D-7AF6-10A9-2041-67580B8D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2A89F4-4AB0-E005-D552-D77AB8D0F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622" y="133350"/>
            <a:ext cx="85807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lang="en-US" spc="-60" dirty="0"/>
              <a:t>Bivariate Analysis</a:t>
            </a:r>
            <a:r>
              <a:rPr spc="90" dirty="0"/>
              <a:t> </a:t>
            </a:r>
            <a:r>
              <a:rPr spc="204" dirty="0"/>
              <a:t>–</a:t>
            </a:r>
            <a:r>
              <a:rPr spc="70" dirty="0"/>
              <a:t> </a:t>
            </a:r>
            <a:r>
              <a:rPr lang="en-US" spc="-55" dirty="0"/>
              <a:t>Python</a:t>
            </a:r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9BCBE-5346-FC48-0178-C6867A7E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742949"/>
            <a:ext cx="7924800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43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0110-0C59-590C-6ECC-EB57192A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3C7607-E31E-B8AD-9E99-7A176BC3B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622" y="133350"/>
            <a:ext cx="85807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lang="en-US" spc="-60" dirty="0"/>
              <a:t>Multivariate Analysis</a:t>
            </a:r>
            <a:r>
              <a:rPr spc="90" dirty="0"/>
              <a:t> </a:t>
            </a:r>
            <a:r>
              <a:rPr spc="204" dirty="0"/>
              <a:t>–</a:t>
            </a:r>
            <a:r>
              <a:rPr spc="70" dirty="0"/>
              <a:t> </a:t>
            </a:r>
            <a:r>
              <a:rPr lang="en-US" spc="-55" dirty="0"/>
              <a:t>Python</a:t>
            </a:r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3B5D2-CC4E-B133-EAC9-5A3D90E55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42949"/>
            <a:ext cx="7924800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2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609" y="224218"/>
            <a:ext cx="206375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936053"/>
            <a:ext cx="8540115" cy="38801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20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Used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SQL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to extract, filter, and aggregate loan data from structured sources.</a:t>
            </a:r>
            <a:endParaRPr sz="1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Built interactive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Excel dashboards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to visualize KPIs and summarize loan performance.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Applied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Python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for data cleaning, transformation, and exploratory data analysis (EDA).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/>
              <a:t>Conducted </a:t>
            </a:r>
            <a:r>
              <a:rPr lang="en-IN" sz="1400" b="1" dirty="0"/>
              <a:t>univariate, bivariate, and multivariate analysis</a:t>
            </a:r>
            <a:r>
              <a:rPr lang="en-IN" sz="1400" dirty="0"/>
              <a:t> to uncover key patterns and relationships.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Segmented loans into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Good vs Bad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categories for portfolio quality assessment.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Analysed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monthly trends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regional lending patterns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using dynamic visualizations.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Explored loan behaviour by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term, purpose, employment length, and home ownership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Calculated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MTD and MoM metrics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for applications, funding, repayments, and borrower health.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Created a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Loan Status Grid View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to compare performance across different loan statuses.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Delivered a comprehensive, data-driven report to support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strategic lending decisions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84150" marR="5080" indent="-172085">
              <a:lnSpc>
                <a:spcPts val="2560"/>
              </a:lnSpc>
              <a:spcBef>
                <a:spcPts val="15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Inferences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936053"/>
            <a:ext cx="8540750" cy="36386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r>
              <a:rPr lang="en-IN" sz="1400" b="1" dirty="0"/>
              <a:t>Good loans dominate the portfolio</a:t>
            </a:r>
            <a:r>
              <a:rPr lang="en-IN" sz="1400" dirty="0"/>
              <a:t>, with a higher percentage of applications marked as 'Fully Paid' or 'Current', indicating strong repayment behaviour.</a:t>
            </a:r>
          </a:p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r>
              <a:rPr lang="en-IN" sz="1400" b="1" dirty="0"/>
              <a:t>Charged-off loans show lower recovery</a:t>
            </a:r>
            <a:r>
              <a:rPr lang="en-IN" sz="1400" dirty="0"/>
              <a:t>, with significantly less received amount compared to their funded value, highlighting risk in certain borrower segments.</a:t>
            </a:r>
          </a:p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purpose and employment length impact performance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debt consolidation and longer employment histories correlating with better repayment outcomes.</a:t>
            </a:r>
          </a:p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disparities exist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some states consistently show higher application volumes and funded amounts, suggesting localized lending demand.</a:t>
            </a:r>
          </a:p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DTI ratios align with bad loan status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borrower financial stress may be a key predictor of loan default.</a:t>
            </a:r>
          </a:p>
          <a:p>
            <a:pPr marL="298450" marR="5080" indent="-286385">
              <a:lnSpc>
                <a:spcPct val="152100"/>
              </a:lnSpc>
              <a:spcBef>
                <a:spcPts val="95"/>
              </a:spcBef>
              <a:buSzPct val="64285"/>
              <a:buFont typeface="Arial MT"/>
              <a:buChar char="•"/>
              <a:tabLst>
                <a:tab pos="29845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033" y="133350"/>
            <a:ext cx="530225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Challenges</a:t>
            </a:r>
            <a:r>
              <a:rPr spc="110" dirty="0"/>
              <a:t> </a:t>
            </a:r>
            <a:r>
              <a:rPr spc="-10" dirty="0"/>
              <a:t>Faced</a:t>
            </a:r>
            <a:r>
              <a:rPr spc="65" dirty="0"/>
              <a:t> </a:t>
            </a:r>
            <a:r>
              <a:rPr spc="445" dirty="0"/>
              <a:t>&amp;</a:t>
            </a:r>
            <a:r>
              <a:rPr spc="110" dirty="0"/>
              <a:t> </a:t>
            </a:r>
            <a:r>
              <a:rPr spc="-2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033" y="688215"/>
            <a:ext cx="7656830" cy="3833101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70"/>
              </a:spcBef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solidFill>
                  <a:srgbClr val="123817"/>
                </a:solidFill>
                <a:latin typeface="Cambria"/>
                <a:cs typeface="Cambria"/>
              </a:rPr>
              <a:t>Challenges:</a:t>
            </a:r>
            <a:endParaRPr sz="1400" dirty="0">
              <a:latin typeface="Cambria"/>
              <a:cs typeface="Cambria"/>
            </a:endParaRP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Data Quality Issues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Missing values, inconsistent formats, and outliers made initial analysis difficult.</a:t>
            </a: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Schema Mismatch During Import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Errors occurred while importing CSV into SQL Server due to data type mismatches or column length issues.</a:t>
            </a: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Complexity in KPI Calculations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Deriving MTD, MoM, and segmented loan metrics required careful filtering and aggregation logic.</a:t>
            </a:r>
            <a:endParaRPr sz="1400" dirty="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buSzPct val="64285"/>
              <a:buFont typeface="Arial MT"/>
              <a:buChar char="•"/>
              <a:tabLst>
                <a:tab pos="184150" algn="l"/>
              </a:tabLst>
            </a:pPr>
            <a:r>
              <a:rPr lang="en-US" sz="1400" b="1" spc="-35" dirty="0">
                <a:solidFill>
                  <a:srgbClr val="123817"/>
                </a:solidFill>
                <a:latin typeface="Cambria"/>
                <a:cs typeface="Cambria"/>
              </a:rPr>
              <a:t>Solutions:</a:t>
            </a:r>
            <a:endParaRPr sz="1400" dirty="0">
              <a:latin typeface="Cambria"/>
              <a:cs typeface="Cambria"/>
            </a:endParaRP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Performed Data Cleaning in Python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Used Pandas to handle nulls, standardize formats, and detect outliers before analysis.</a:t>
            </a: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Adjusted SQL Table Schemas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Modified column data types and lengths to match the CSV structure, ensuring smooth data import.</a:t>
            </a:r>
          </a:p>
          <a:p>
            <a:pPr marL="755650" lvl="1" indent="-285115">
              <a:lnSpc>
                <a:spcPct val="100000"/>
              </a:lnSpc>
              <a:spcBef>
                <a:spcPts val="875"/>
              </a:spcBef>
              <a:buSzPct val="64285"/>
              <a:buFont typeface="Courier New"/>
              <a:buChar char="o"/>
              <a:tabLst>
                <a:tab pos="755650" algn="l"/>
              </a:tabLst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Modularized KPI Logic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: Broke down complex calculations into reusable SQL queries and Python functions for clarity and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2050986"/>
            <a:ext cx="300545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spc="-60" dirty="0"/>
              <a:t>Thank</a:t>
            </a:r>
            <a:r>
              <a:rPr sz="4500" spc="-40" dirty="0"/>
              <a:t> </a:t>
            </a:r>
            <a:r>
              <a:rPr sz="4500" spc="-20" dirty="0"/>
              <a:t>You!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1084</Words>
  <Application>Microsoft Office PowerPoint</Application>
  <PresentationFormat>On-screen Show (16:9)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MT</vt:lpstr>
      <vt:lpstr>Cambria</vt:lpstr>
      <vt:lpstr>Courier New</vt:lpstr>
      <vt:lpstr>Times New Roman</vt:lpstr>
      <vt:lpstr>Office Theme</vt:lpstr>
      <vt:lpstr>Financial Loan Project</vt:lpstr>
      <vt:lpstr>Agenda</vt:lpstr>
      <vt:lpstr>Introduction &amp; Objectives</vt:lpstr>
      <vt:lpstr>MySQL Queries</vt:lpstr>
      <vt:lpstr>MySQL Queries</vt:lpstr>
      <vt:lpstr>KPI 1 – Total Loan Applications</vt:lpstr>
      <vt:lpstr>KPI 2 – Total Funded Amount</vt:lpstr>
      <vt:lpstr>KPI 3 – Total Amount Recevied</vt:lpstr>
      <vt:lpstr>KPI 4 – Average Interest Rate</vt:lpstr>
      <vt:lpstr>KPI 5 – Average DTI</vt:lpstr>
      <vt:lpstr>Summary Dashboard – Excel</vt:lpstr>
      <vt:lpstr>Overview Dashboard – Excel</vt:lpstr>
      <vt:lpstr>Univariate Analysis – Python</vt:lpstr>
      <vt:lpstr>Bivariate Analysis – Python</vt:lpstr>
      <vt:lpstr>Multivariate Analysis – Python</vt:lpstr>
      <vt:lpstr>Conclusion</vt:lpstr>
      <vt:lpstr>Inferences</vt:lpstr>
      <vt:lpstr>Challenges Faced &amp; Solution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Dhanasekaran Mohanraj</cp:lastModifiedBy>
  <cp:revision>22</cp:revision>
  <dcterms:created xsi:type="dcterms:W3CDTF">2025-10-30T05:54:17Z</dcterms:created>
  <dcterms:modified xsi:type="dcterms:W3CDTF">2025-11-04T05:52:54Z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2025-10-18T00:00:00Z</vt:filetime>
  </property>
  <property fmtid="{D5CDD505-2E9C-101B-9397-08002B2CF9AE}" pid="3" name="LastSaved">
    <vt:filetime>2025-10-30T00:00:00Z</vt:filetime>
  </property>
</Properties>
</file>